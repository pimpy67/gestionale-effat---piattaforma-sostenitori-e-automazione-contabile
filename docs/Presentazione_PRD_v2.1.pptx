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7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20 secondi</a:t>
            </a:r>
          </a:p>
          <a:p>
            <a:endParaRPr/>
          </a:p>
          <a:p>
            <a:r>
              <a:t>Buongiorno. Mi chiamo Andrea Pavan.</a:t>
            </a:r>
          </a:p>
          <a:p>
            <a:r>
              <a:t>Presento il PRD del Gestionale Effatà.</a:t>
            </a:r>
          </a:p>
          <a:p>
            <a:r>
              <a:t>È un progetto con un cliente vero: Effatà Italia, un’associazione che aiuta bambini e famiglie in Uganda.</a:t>
            </a:r>
          </a:p>
          <a:p>
            <a:r>
              <a:t>— pausa —</a:t>
            </a:r>
          </a:p>
          <a:p>
            <a:r>
              <a:t>Seguo l’indice del template, capitolo per capitolo.</a:t>
            </a:r>
          </a:p>
          <a:p>
            <a:r>
              <a:t>Oggi presento i capitoli dall’1 al 10 e la checklist finale. Il resto in un secondo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40 secondi</a:t>
            </a:r>
          </a:p>
          <a:p>
            <a:endParaRPr/>
          </a:p>
          <a:p>
            <a:r>
              <a:t>Prima di parlare del gestionale, due parole sull’associazione.</a:t>
            </a:r>
          </a:p>
          <a:p>
            <a:r>
              <a:t>Effatà è nata nel 2023 per sostenere Silvia, una volontaria di Treviso che dal 2020 vive in Uganda.</a:t>
            </a:r>
          </a:p>
          <a:p>
            <a:r>
              <a:t>Lavora in modo diretto: Silvia manda ogni giorno foto e notizie ai sostenitori su WhatsApp, e visita le famiglie.</a:t>
            </a:r>
          </a:p>
          <a:p>
            <a:r>
              <a:t>— pausa —</a:t>
            </a:r>
          </a:p>
          <a:p>
            <a:r>
              <a:t>I progetti: circa 1.200 bambini a scuola; per le famiglie casette, terreni, animali, materassi e scarpe; operazioni chirurgiche; e una casa famiglia che accoglie già 38 orfani.</a:t>
            </a:r>
          </a:p>
          <a:p>
            <a:r>
              <a:t>L’obiettivo è una relazione fra chi dona e chi riceve. Il gestionale serve a renderla tracciabile.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Effatà segue circa 700 padrini, più di mille donatori e 1.200 bambini.</a:t>
            </a:r>
          </a:p>
          <a:p>
            <a:r>
              <a:t>Oggi ci sono tre problemi.</a:t>
            </a:r>
          </a:p>
          <a:p>
            <a:r>
              <a:t>Primo: molti fanno il bonifico prima di registrarsi. I dati si cercano dopo.</a:t>
            </a:r>
          </a:p>
          <a:p>
            <a:r>
              <a:t>Secondo: gli estratti conto si ricopiano a mano in VERIF!CO, il programma di contabilità.</a:t>
            </a:r>
          </a:p>
          <a:p>
            <a:r>
              <a:t>Terzo: le foto passano su WhatsApp. Il sostenitore non ha un posto suo dove vederle.</a:t>
            </a:r>
          </a:p>
          <a:p>
            <a:r>
              <a:t>— pausa —</a:t>
            </a:r>
          </a:p>
          <a:p>
            <a:r>
              <a:t>L’idea è semplice: prima ci si registra, poi si dona. Così ogni donazione è collegata subito al bambino.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Il lavoro è diviso in tre parti.</a:t>
            </a:r>
          </a:p>
          <a:p>
            <a:r>
              <a:t>La fase 1 va online ad aprile 2027: vetrina, carrello, pagamenti, rendicontazione con il bot, file per VERIF!CO.</a:t>
            </a:r>
          </a:p>
          <a:p>
            <a:r>
              <a:t>La fase 2 arriva dopo: per esempio l’area soci e PayPal.</a:t>
            </a:r>
          </a:p>
          <a:p>
            <a:r>
              <a:t>Fuori perimetro: chat, app sugli store, inglese.</a:t>
            </a:r>
          </a:p>
          <a:p>
            <a:r>
              <a:t>— pausa —</a:t>
            </a:r>
          </a:p>
          <a:p>
            <a:r>
              <a:t>Una scelta importante: il gestionale non sostituisce VERIF!CO. La contabilità resta lì. Noi prepariamo solo i dati, senza ricopiarli.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Gli stakeholder sono le persone che hanno un interesse nel progetto. Sono dieci.</a:t>
            </a:r>
          </a:p>
          <a:p>
            <a:r>
              <a:t>In verde chi userà il gestionale: amministratori, volontari, sostenitori e soci.</a:t>
            </a:r>
          </a:p>
          <a:p>
            <a:r>
              <a:t>In arancione chi è coinvolto senza usarlo: Silvia, la referente in Uganda; i bambini e le famiglie; il commercialista; il docente; chi manterrà il sistema.</a:t>
            </a:r>
          </a:p>
          <a:p>
            <a:r>
              <a:t>— pausa —</a:t>
            </a:r>
          </a:p>
          <a:p>
            <a:r>
              <a:t>VERIF!CO, la banca e gli altri sono fornitori. Li tratto come dipendenze, nel capitolo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Gli utenti sono di quattro tipi.</a:t>
            </a:r>
          </a:p>
          <a:p>
            <a:r>
              <a:t>L’amministratore lavora dal computer.</a:t>
            </a:r>
          </a:p>
          <a:p>
            <a:r>
              <a:t>I volontari lavorano la sera, soprattutto dal bot Telegram che già usano.</a:t>
            </a:r>
          </a:p>
          <a:p>
            <a:r>
              <a:t>I sostenitori usano il telefono, una o due volte al mese. Molti non sono giovani: per questo le pagine devono essere molto leggibili.</a:t>
            </a:r>
          </a:p>
          <a:p>
            <a:r>
              <a:t>I soci arrivano nella fase 2.</a:t>
            </a:r>
          </a:p>
          <a:p>
            <a:r>
              <a:t>— pausa —</a:t>
            </a:r>
          </a:p>
          <a:p>
            <a:r>
              <a:t>A destra il cambiamento: oggi tutto si ricopia a mano. Domani il sostenitore si registra, paga e vede le foto nella sua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Il cuore è un carrello solidale.</a:t>
            </a:r>
          </a:p>
          <a:p>
            <a:r>
              <a:t>Come un negozio online, ma al posto dei prodotti ci sono bisogni veri: la scuola di una bambina, una carrozzina, una capretta.</a:t>
            </a:r>
          </a:p>
          <a:p>
            <a:r>
              <a:t>Il sostenitore sceglie e paga con carta, Satispay o bonifico. Riceve subito il ringraziamento.</a:t>
            </a:r>
          </a:p>
          <a:p>
            <a:r>
              <a:t>— pausa —</a:t>
            </a:r>
          </a:p>
          <a:p>
            <a:r>
              <a:t>Poi, nella sua area, vede le foto della consegna. Solo di quello che ha sostenuto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Questo è uno dei nove user flow: una richiesta di aiuto nuova.</a:t>
            </a:r>
          </a:p>
          <a:p>
            <a:r>
              <a:t>Silvia manda le foto su WhatsApp, come sempre.</a:t>
            </a:r>
          </a:p>
          <a:p>
            <a:r>
              <a:t>Il volontario le mette nel bot e sceglie “Richiesta di aiuto”.</a:t>
            </a:r>
          </a:p>
          <a:p>
            <a:r>
              <a:t>Il bot trova il bambino giusto. Il volontario conferma.</a:t>
            </a:r>
          </a:p>
          <a:p>
            <a:r>
              <a:t>Il bot pubblica sui social e manda tutto al gestionale.</a:t>
            </a:r>
          </a:p>
          <a:p>
            <a:r>
              <a:t>L’amministratore approva. La richiesta va in vetrina.</a:t>
            </a:r>
          </a:p>
          <a:p>
            <a:r>
              <a:t>— pausa —</a:t>
            </a:r>
          </a:p>
          <a:p>
            <a:r>
              <a:t>Per le foto di un aiuto già pagato, il volontario sceglie invece “Aiuto consegnato”.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75 secondi</a:t>
            </a:r>
          </a:p>
          <a:p>
            <a:endParaRPr/>
          </a:p>
          <a:p>
            <a:r>
              <a:t>Il capitolo 5 ha 25 user story. Sono scritte così: “Come… voglio… così da…”.</a:t>
            </a:r>
          </a:p>
          <a:p>
            <a:r>
              <a:t>Tre livelli. La user story dice cosa vuole una persona e perché. Lo user flow, come nella slide 8, mostra i passi. Gli acceptance criteria sono le prove precise che il software deve superare.</a:t>
            </a:r>
          </a:p>
          <a:p>
            <a:r>
              <a:t>Ogni storia ha i suoi acceptance criteria: “Dato che… quando… allora…”. In tutto sono 162.</a:t>
            </a:r>
          </a:p>
          <a:p>
            <a:r>
              <a:t>Esempio: la storia AMM-01, pubblicare una richiesta. AC-01 è il caso normale, quando tutto va bene:</a:t>
            </a:r>
          </a:p>
          <a:p>
            <a:r>
              <a:t>Dato che un volontario ha preparato una richiesta in bozza, quando io amministratore la approvo, allora la richiesta riceve il suo codice, RIC-0042, e compare in vetrina come “aperta”, solo con le foto pubbliche.</a:t>
            </a:r>
          </a:p>
          <a:p>
            <a:r>
              <a:t>Gli altri criteri della stessa storia coprono i casi diversi:</a:t>
            </a:r>
          </a:p>
          <a:p>
            <a:r>
              <a:t>AC-02: la famiglia non ha il modulo di consenso, quindi il sistema blocca l’approvazione.</a:t>
            </a:r>
          </a:p>
          <a:p>
            <a:r>
              <a:t>AC-03: un volontario o un sostenitore prova a pubblicare, e l’operazione viene negata.</a:t>
            </a:r>
          </a:p>
          <a:p>
            <a:r>
              <a:t>AC-04: c’è già un pagamento, quindi il costo non si può più cambiare.</a:t>
            </a:r>
          </a:p>
          <a:p>
            <a:r>
              <a:t>AC-05: la richiesta è aperta da più di 30 giorni senza sostenitore, quindi finisce fra le segnalazioni.</a:t>
            </a:r>
          </a:p>
          <a:p>
            <a:r>
              <a:t>AC-06: l’amministratore può correggere la bozza oppure rimandarla al volontario.</a:t>
            </a:r>
          </a:p>
          <a:p>
            <a:r>
              <a:t>Ogni storia ha almeno un criterio su ciò che viene vietato: qui è AC-03.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Siamo ancora nei requisiti funzionali: che cosa fa il sistema?</a:t>
            </a:r>
          </a:p>
          <a:p>
            <a:r>
              <a:t>Le regole che le storie lasciano aperte le ho decise nel capitolo 5.6. Sono 70, ne mostro sei.</a:t>
            </a:r>
          </a:p>
          <a:p>
            <a:r>
              <a:t>Chi paga per primo vince. Un secondo pagamento diventa un credito per un’altra richiesta.</a:t>
            </a:r>
          </a:p>
          <a:p>
            <a:r>
              <a:t>Il consenso della famiglia: un modulo in italiano e inglese, una casella per ogni scopo.</a:t>
            </a:r>
          </a:p>
          <a:p>
            <a:r>
              <a:t>Per materassi e scarpe non si contano i pezzi.</a:t>
            </a:r>
          </a:p>
          <a:p>
            <a:r>
              <a:t>Il bot diventa la porta d’ingresso delle foto.</a:t>
            </a:r>
          </a:p>
          <a:p>
            <a:r>
              <a:t>L’ospite vede la vetrina per 7 giorni con la sola email.</a:t>
            </a:r>
          </a:p>
          <a:p>
            <a:r>
              <a:t>VERIF!CO riceve tre file al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I requisiti non funzionali rispondono a un’altra domanda: come deve funzionare il sistema, e quanto bene?</a:t>
            </a:r>
          </a:p>
          <a:p>
            <a:r>
              <a:t>Cioè quanto è veloce, sicuro, sempre disponibile. Ognuno ha un numero da misurare.</a:t>
            </a:r>
          </a:p>
          <a:p>
            <a:r>
              <a:t>Le pagine si aprono in meno di 2 secondi, anche con 50 persone insieme.</a:t>
            </a:r>
          </a:p>
          <a:p>
            <a:r>
              <a:t>Il servizio funziona il 99% del tempo, con un backup ogni notte.</a:t>
            </a:r>
          </a:p>
          <a:p>
            <a:r>
              <a:t>I dati fiscali si tengono 10 anni.</a:t>
            </a:r>
          </a:p>
          <a:p>
            <a:r>
              <a:t>— pausa —</a:t>
            </a:r>
          </a:p>
          <a:p>
            <a:r>
              <a:t>E i conti tornano sempre: se c’è una differenza, il sistema la segnala invece di mostrare un numero sbagliato.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45 secondi</a:t>
            </a:r>
          </a:p>
          <a:p>
            <a:endParaRPr/>
          </a:p>
          <a:p>
            <a:r>
              <a:t>Qui separo tre cose.</a:t>
            </a:r>
          </a:p>
          <a:p>
            <a:r>
              <a:t>Le assunzioni: cose che diamo per vere. Per esempio che l’estratto conto abbia il nome di chi paga.</a:t>
            </a:r>
          </a:p>
          <a:p>
            <a:r>
              <a:t>I vincoli: limiti fissi. Il budget, il GDPR per i dati dei bambini, il formato di VERIF!CO, e il fatto che sono uno sviluppatore solo.</a:t>
            </a:r>
          </a:p>
          <a:p>
            <a:r>
              <a:t>Le dipendenze: cose che devono arrivare da fuori, ognuna con una data.</a:t>
            </a:r>
          </a:p>
          <a:p>
            <a:r>
              <a:t>— pausa —</a:t>
            </a:r>
          </a:p>
          <a:p>
            <a:r>
              <a:t>I rischi sono 21, nell’allegato C. Il più grande è il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30 secondi</a:t>
            </a:r>
          </a:p>
          <a:p>
            <a:endParaRPr/>
          </a:p>
          <a:p>
            <a:r>
              <a:t>Inizia la seconda parte: il come.</a:t>
            </a:r>
          </a:p>
          <a:p>
            <a:r>
              <a:t>In una sera normale ci sono 5 o 10 utenti.</a:t>
            </a:r>
          </a:p>
          <a:p>
            <a:r>
              <a:t>Il picco è dopo la newsletter: circa 50 persone nello stesso minuto. Il test si fa con 100.</a:t>
            </a:r>
          </a:p>
          <a:p>
            <a:r>
              <a:t>I dati crescono di circa 5 gigabyte all’anno, soprattutto foto. Il server ha spazio a sufficienza.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60 secondi</a:t>
            </a:r>
          </a:p>
          <a:p>
            <a:endParaRPr/>
          </a:p>
          <a:p>
            <a:r>
              <a:t>Per ogni scelta ho scritto l’alternativa scartata e il perché. Criteri: cosa so già usare, costi, requisiti non funzionali, diffusione.</a:t>
            </a:r>
          </a:p>
          <a:p>
            <a:r>
              <a:t>Server: NestJS, non Express. NestJS ha già pronti i “cassetti” in cui divido il codice: richieste, regole, database, servizi esterni. Con Express andrebbero costruiti a mano. Ed è TypeScript, lo stesso linguaggio dell’app.</a:t>
            </a:r>
          </a:p>
          <a:p>
            <a:r>
              <a:t>App: Ionic e React, non Angular, React Native o Flutter. Un solo codice per PC e telefono. React lo studio nel corso. E l’app web si installa senza passare dagli store, quindi senza costi.</a:t>
            </a:r>
          </a:p>
          <a:p>
            <a:r>
              <a:t>Database: PostgreSQL, non MySQL. Ha regole più forti: per esempio impedisce due adozioni per lo stesso bambino. Ed è uguale nei test e sul server vero.</a:t>
            </a:r>
          </a:p>
          <a:p>
            <a:r>
              <a:t>Server fisico: la VPS Hostinger a Parigi, non Railway. L’associazione la paga già, e ci girano bot e calendario. Railway si paga a consumo. E a Parigi i dati restano in Europa.</a:t>
            </a:r>
          </a:p>
          <a:p>
            <a:r>
              <a:t>Lavori in background: pg-boss, non Redis. pg-boss è una lista d’attesa dei lavori lenti, come “manda questa email”, tenuta dentro il database. Il worker la legge e fa i lavori uno alla volta. Redis sarebbe un programma in più, su un server con 4 gigabyte di memoria.</a:t>
            </a:r>
          </a:p>
          <a:p>
            <a:r>
              <a:t>Pagamenti: Stripe, non PayPal, che arriva in fase 2. Ha la modalità di prova per i test, VERIF!CO sa già leggere i suoi file, ed è lo stesso conto del calendario.</a:t>
            </a:r>
          </a:p>
          <a:p>
            <a:r>
              <a:t>Email: Brevo, non Gmail o SendGrid. È un’azienda europea e il piano gratuito basta.</a:t>
            </a:r>
          </a:p>
          <a:p>
            <a:r>
              <a:t>Intelligenza artificiale: Claude, non OpenAI o Gemini. Solo nel bot, dove si usa già: un solo fornitore.</a:t>
            </a:r>
          </a:p>
          <a:p>
            <a:r>
              <a:t>— pausa —</a:t>
            </a:r>
          </a:p>
          <a:p>
            <a:r>
              <a:t>Nel PRD le scelte sono 20, tutte con l’alternativa scartata.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30 secondi</a:t>
            </a:r>
          </a:p>
          <a:p>
            <a:endParaRPr/>
          </a:p>
          <a:p>
            <a:r>
              <a:t>Il gestionale sono i riquadri verdi: l’app web, l’API, il worker e il database.</a:t>
            </a:r>
          </a:p>
          <a:p>
            <a:r>
              <a:t>L’API risponde subito alle richieste.</a:t>
            </a:r>
          </a:p>
          <a:p>
            <a:r>
              <a:t>Il worker fa i lavori lenti in background: foto, email, PDF, backup.</a:t>
            </a:r>
          </a:p>
          <a:p>
            <a:r>
              <a:t>— pausa —</a:t>
            </a:r>
          </a:p>
          <a:p>
            <a:r>
              <a:t>Il bot e il calendario sono sistemi separati. Parlano con il gestionale solo tramite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40 secondi</a:t>
            </a:r>
          </a:p>
          <a:p>
            <a:endParaRPr/>
          </a:p>
          <a:p>
            <a:r>
              <a:t>I capitoli dall’11 al 18 sono nel PRD: API, dati, sicurezza, qualità, costi, rilascio, tempi e valutazione. Li presenterò in un secondo momento.</a:t>
            </a:r>
          </a:p>
          <a:p>
            <a:r>
              <a:t>— pausa —</a:t>
            </a:r>
          </a:p>
          <a:p>
            <a:r>
              <a:t>Passo all’ultimo capitolo: la checklist del template, cioè i controlli che il PRD deve superare.</a:t>
            </a:r>
          </a:p>
          <a:p>
            <a:r>
              <a:t>Li ho verificati tutti, uno per uno.</a:t>
            </a:r>
          </a:p>
          <a:p>
            <a:r>
              <a:t>L’unico punto non rispettato è la lunghezza: circa 67 pagine invece di 15–25, più 33 di allegati.</a:t>
            </a:r>
          </a:p>
          <a:p>
            <a:r>
              <a:t>Il motivo: un cliente vero, con pagamenti, contabilità e dati di bambini.</a:t>
            </a:r>
          </a:p>
          <a:p>
            <a:r>
              <a:t>Quello che il template non chiede è negli allegati.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15 secondi</a:t>
            </a:r>
          </a:p>
          <a:p>
            <a:endParaRPr/>
          </a:p>
          <a:p>
            <a:r>
              <a:t>Grazie.</a:t>
            </a:r>
          </a:p>
          <a:p>
            <a:r>
              <a:t>Il PRD è nella repository, con i capitoli nell’ordine del template. Gli allegati sono in un file a parte.</a:t>
            </a:r>
          </a:p>
          <a:p>
            <a:r>
              <a:t>— pausa —</a:t>
            </a:r>
          </a:p>
          <a:p>
            <a:r>
              <a:t>Sono pronto per le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Riserva: solo se chiedono dei rischi</a:t>
            </a:r>
          </a:p>
          <a:p>
            <a:endParaRPr/>
          </a:p>
          <a:p>
            <a:r>
              <a:t>Solo se il docente chiede dei rischi.</a:t>
            </a:r>
          </a:p>
          <a:p>
            <a:r>
              <a:t>Primo: il tempo. Per questo ci sono il margine e i tagli già decisi.</a:t>
            </a:r>
          </a:p>
          <a:p>
            <a:r>
              <a:t>Secondo: le donazioni con carta del 2026 vanno registrate in VERIF!CO. Chiedo il parere del commercialista.</a:t>
            </a:r>
          </a:p>
          <a:p>
            <a:r>
              <a:t>Terzo: i moduli di consenso. Si parte con un primo villaggio.</a:t>
            </a:r>
          </a:p>
          <a:p>
            <a:r>
              <a:t>Quarto: la sicurezza del server. Firewall e accesso con chiave prima di iniziare.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it-IT"/>
              <a:t>Riserva: solo se chiedono del database</a:t>
            </a:r>
          </a:p>
          <a:p>
            <a:endParaRPr lang="it-IT"/>
          </a:p>
          <a:p>
            <a:r>
              <a:rPr lang="it-IT"/>
              <a:t>Solo se il docente chiede del modello dei dati. Il database è PostgreSQL 16, relazionale, con 37 tabelle in cinque gruppi, uno per colore. Al centro ci sono la donazione e le sue quote: ogni quota va sempre a un capitolo, cioè a un progetto di VERIF!CO, e quando c'è a un intervento, a un anno di adozione o a una voce fissa in attesa di consegna. L'adozione non è un intervento: è un impegno che si rinnova ogni anno, con una riga per ogni anno pagato. Il beneficiario e i contenuti appartengono sempre a un bambino oppure a una famiglia, mai a entrambi. Il dettaglio dei campi è nei diagrammi per gruppo del capitolo 12.2.</a:t>
            </a:r>
          </a:p>
        </p:txBody>
      </p:sp>
    </p:spTree>
    <p:extLst>
      <p:ext uri="{BB962C8B-B14F-4D97-AF65-F5344CB8AC3E}">
        <p14:creationId xmlns:p14="http://schemas.microsoft.com/office/powerpoint/2010/main" val="4194994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perime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stak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ruo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soluzi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flu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_st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_decisio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nf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_vinco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_ca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_tecnolog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_architet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_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_chius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_ris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Diagramma ER completo del Gestionale Effatà: 37 tabelle in cinque gruppi (persone e accessi, beneficiari e adozioni, vetrina e rendicontazione, soldi, contabilità e sistema), dal capitolo 12.2 del PRD v2.3">
            <a:extLst>
              <a:ext uri="{FF2B5EF4-FFF2-40B4-BE49-F238E27FC236}">
                <a16:creationId xmlns:a16="http://schemas.microsoft.com/office/drawing/2014/main" id="{3521C573-7B6E-4ED6-948D-00195BA39D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5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2120</Words>
  <Application>Microsoft Office PowerPoint</Application>
  <PresentationFormat>Widescreen</PresentationFormat>
  <Paragraphs>158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cp:keywords/>
  <dc:description>generated using python-pptx</dc:description>
  <cp:lastModifiedBy>Andrea Pavan</cp:lastModifiedBy>
  <cp:revision>2</cp:revision>
  <dcterms:created xsi:type="dcterms:W3CDTF">2013-01-27T09:14:16Z</dcterms:created>
  <dcterms:modified xsi:type="dcterms:W3CDTF">2026-10-28T16:07:56Z</dcterms:modified>
  <cp:category/>
</cp:coreProperties>
</file>